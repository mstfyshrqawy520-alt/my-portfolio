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9" r:id="rId4"/>
    <p:sldId id="261" r:id="rId5"/>
    <p:sldId id="263" r:id="rId6"/>
    <p:sldId id="262" r:id="rId7"/>
    <p:sldId id="264" r:id="rId8"/>
    <p:sldId id="267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9/24/2025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2.wdp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C07B-7745-5D43-B5D2-29118A9C7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MltiClassification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3BD4C-78CF-1E44-12CA-F76CC4D7B7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28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nter"/>
              </a:rPr>
              <a:t>GrapeLeaves_trasfer_learning</a:t>
            </a:r>
            <a:endParaRPr lang="en-GB" sz="28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Inter"/>
            </a:endParaRPr>
          </a:p>
          <a:p>
            <a:endParaRPr lang="en-GB" b="1" dirty="0">
              <a:solidFill>
                <a:srgbClr val="F3EEE7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7836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6EDE8-9699-D554-725D-535C2B6A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84" y="484632"/>
            <a:ext cx="4741963" cy="1971964"/>
          </a:xfrm>
        </p:spPr>
        <p:txBody>
          <a:bodyPr>
            <a:normAutofit/>
          </a:bodyPr>
          <a:lstStyle/>
          <a:p>
            <a:r>
              <a:rPr lang="en-GB" sz="4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ter"/>
              </a:rPr>
              <a:t>GrapeLeaves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5821A2D-F010-4C2B-8819-23281D9C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97D3CF-A50C-3F52-65FB-2A09DD8832C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86512" y="2455863"/>
            <a:ext cx="5545511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just">
              <a:lnSpc>
                <a:spcPct val="110000"/>
              </a:lnSpc>
              <a:spcAft>
                <a:spcPts val="25"/>
              </a:spcAft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Made</a:t>
            </a: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by  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Eng</a:t>
            </a: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Mostafa Ali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el-sharqawy</a:t>
            </a:r>
            <a:endParaRPr lang="en-US" sz="24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0000"/>
              </a:lnSpc>
              <a:spcAft>
                <a:spcPts val="25"/>
              </a:spcAft>
            </a:pPr>
            <a:r>
              <a:rPr lang="en-US" sz="24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Linkedi:https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://www.linkedin.com/in/eng-mostafa-ali-66b3a7352/</a:t>
            </a:r>
          </a:p>
          <a:p>
            <a:pPr marL="6350" indent="-6350" algn="just">
              <a:lnSpc>
                <a:spcPct val="110000"/>
              </a:lnSpc>
              <a:spcAft>
                <a:spcPts val="25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Phone : 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01276913999</a:t>
            </a:r>
          </a:p>
          <a:p>
            <a:pPr marL="6350" indent="-6350" algn="just">
              <a:lnSpc>
                <a:spcPct val="110000"/>
              </a:lnSpc>
              <a:spcAft>
                <a:spcPts val="25"/>
              </a:spcAft>
            </a:pPr>
            <a:endParaRPr lang="en-US" sz="24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CBEBB1-C4BD-04F3-AF8E-7E141AB0F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70" y="1595717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74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058AD-6301-E3F1-BAFB-579AC2CEB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361" y="341460"/>
            <a:ext cx="6607277" cy="1609344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br>
              <a:rPr lang="en-US" dirty="0"/>
            </a:br>
            <a:endParaRPr lang="en-GB" dirty="0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798C1648-359C-5851-64B1-C46B86EF5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31" y="2242158"/>
            <a:ext cx="9817469" cy="341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78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54EBD94-9D44-4CF0-BDDB-8517D455F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71122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D5092-364B-61DA-51BE-50149C54BB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838" b="-3"/>
          <a:stretch/>
        </p:blipFill>
        <p:spPr>
          <a:xfrm>
            <a:off x="920833" y="886394"/>
            <a:ext cx="5094733" cy="51167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01EE3B-E01D-CA6E-F409-85265EA0EF2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63" r="15331" b="1"/>
          <a:stretch/>
        </p:blipFill>
        <p:spPr>
          <a:xfrm>
            <a:off x="6176436" y="870628"/>
            <a:ext cx="4967392" cy="511674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0AAF7C-3EC7-4D54-B391-9636166D5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60976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A0A1C9-CA15-D135-80D1-08F62B0EA392}"/>
              </a:ext>
            </a:extLst>
          </p:cNvPr>
          <p:cNvSpPr txBox="1"/>
          <p:nvPr/>
        </p:nvSpPr>
        <p:spPr>
          <a:xfrm>
            <a:off x="1070686" y="247415"/>
            <a:ext cx="1421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CNN</a:t>
            </a:r>
            <a:endParaRPr lang="en-GB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635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049D-1D1D-A117-DE90-475355C3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12735"/>
            <a:ext cx="10805928" cy="72651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transfer learning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BED51-C27D-5792-3D90-8BA6F74C7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786" y="939453"/>
            <a:ext cx="5294376" cy="5232748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ResNet50</a:t>
            </a:r>
          </a:p>
          <a:p>
            <a:r>
              <a:rPr lang="en-GB" sz="2800" dirty="0">
                <a:solidFill>
                  <a:srgbClr val="0070C0"/>
                </a:solidFill>
              </a:rPr>
              <a:t>     </a:t>
            </a:r>
            <a:r>
              <a:rPr lang="en-US" sz="1800" dirty="0"/>
              <a:t>Structure:</a:t>
            </a:r>
          </a:p>
          <a:p>
            <a:endParaRPr lang="en-GB" sz="2800" dirty="0">
              <a:solidFill>
                <a:srgbClr val="0070C0"/>
              </a:solidFill>
            </a:endParaRPr>
          </a:p>
          <a:p>
            <a:endParaRPr lang="en-GB" sz="2800" dirty="0">
              <a:solidFill>
                <a:srgbClr val="0070C0"/>
              </a:solidFill>
            </a:endParaRPr>
          </a:p>
          <a:p>
            <a:endParaRPr lang="en-GB" sz="2800" dirty="0">
              <a:solidFill>
                <a:srgbClr val="0070C0"/>
              </a:solidFill>
            </a:endParaRPr>
          </a:p>
          <a:p>
            <a:endParaRPr lang="en-GB" sz="2800" dirty="0">
              <a:solidFill>
                <a:srgbClr val="0070C0"/>
              </a:solidFill>
            </a:endParaRPr>
          </a:p>
          <a:p>
            <a:endParaRPr lang="en-GB" sz="2800" dirty="0">
              <a:solidFill>
                <a:srgbClr val="0070C0"/>
              </a:solidFill>
            </a:endParaRPr>
          </a:p>
          <a:p>
            <a:r>
              <a:rPr lang="en-GB" sz="1800" dirty="0"/>
              <a:t>Freezing</a:t>
            </a:r>
            <a:r>
              <a:rPr lang="en-GB" sz="2400" dirty="0"/>
              <a:t>: </a:t>
            </a:r>
            <a:r>
              <a:rPr lang="en-GB" sz="1600" dirty="0"/>
              <a:t>the last layers</a:t>
            </a:r>
          </a:p>
          <a:p>
            <a:endParaRPr lang="en-GB" sz="2400" dirty="0"/>
          </a:p>
          <a:p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51E0C-8AE4-114F-1767-335B73F54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2162" y="839245"/>
            <a:ext cx="5686942" cy="5332955"/>
          </a:xfrm>
        </p:spPr>
        <p:txBody>
          <a:bodyPr/>
          <a:lstStyle/>
          <a:p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MobileNet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Structure: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Freezing:</a:t>
            </a:r>
          </a:p>
          <a:p>
            <a:pPr lvl="1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AC5104-689A-A70E-44AE-A781E4DD6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868" y="1865039"/>
            <a:ext cx="5545021" cy="27572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25C502-7D35-6DC1-51DF-744D9E32F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731" y="5204300"/>
            <a:ext cx="5114158" cy="1011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25F453-04BC-0596-771A-B8E8D1E45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60" y="2056818"/>
            <a:ext cx="4297917" cy="24525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28E8B6-19A3-3E66-A232-C8B0A9870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60" y="5240311"/>
            <a:ext cx="3791529" cy="55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468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10">
            <a:extLst>
              <a:ext uri="{FF2B5EF4-FFF2-40B4-BE49-F238E27FC236}">
                <a16:creationId xmlns:a16="http://schemas.microsoft.com/office/drawing/2014/main" id="{EC78E3E1-BBBA-4058-AAEB-714F04B0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6860FA5-CE2B-4019-8FD1-031D7D84E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92DF474-2C37-4DC7-B889-E88EAADEA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Rectangle 14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B0C1F1-1F71-08E4-2742-813247BCA9F2}"/>
              </a:ext>
            </a:extLst>
          </p:cNvPr>
          <p:cNvSpPr txBox="1"/>
          <p:nvPr/>
        </p:nvSpPr>
        <p:spPr>
          <a:xfrm>
            <a:off x="9183484" y="510113"/>
            <a:ext cx="3544035" cy="1609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ResNet50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66AB9-3B55-FCD8-9DC3-6F2B4A6FE5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13" y="640080"/>
            <a:ext cx="5960640" cy="55881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83F46E-399C-D14E-49C8-EBC52394F3E3}"/>
              </a:ext>
            </a:extLst>
          </p:cNvPr>
          <p:cNvSpPr txBox="1"/>
          <p:nvPr/>
        </p:nvSpPr>
        <p:spPr>
          <a:xfrm>
            <a:off x="8032652" y="4065562"/>
            <a:ext cx="3667733" cy="2106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0" i="0" dirty="0">
                <a:effectLst/>
              </a:rPr>
              <a:t>When Changing the epoch form 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1600" b="1" i="0" dirty="0">
                <a:effectLst/>
              </a:rPr>
              <a:t>                        30 </a:t>
            </a:r>
            <a:r>
              <a:rPr lang="en-US" sz="1600" b="1" i="0" dirty="0">
                <a:effectLst/>
                <a:sym typeface="Wingdings" panose="05000000000000000000" pitchFamily="2" charset="2"/>
              </a:rPr>
              <a:t></a:t>
            </a:r>
            <a:r>
              <a:rPr lang="en-US" sz="1600" b="1" i="1" dirty="0">
                <a:effectLst/>
              </a:rPr>
              <a:t>35 </a:t>
            </a:r>
            <a:r>
              <a:rPr lang="en-US" sz="1600" b="1" i="1" dirty="0">
                <a:effectLst/>
                <a:sym typeface="Wingdings" panose="05000000000000000000" pitchFamily="2" charset="2"/>
              </a:rPr>
              <a:t></a:t>
            </a:r>
            <a:r>
              <a:rPr lang="en-US" sz="1600" b="1" i="1" dirty="0">
                <a:effectLst/>
              </a:rPr>
              <a:t> 40: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i="0" dirty="0" err="1">
                <a:effectLst/>
              </a:rPr>
              <a:t>Train</a:t>
            </a:r>
            <a:r>
              <a:rPr lang="en-US" sz="1600" b="1" i="0" dirty="0" err="1">
                <a:effectLst/>
              </a:rPr>
              <a:t>_</a:t>
            </a:r>
            <a:r>
              <a:rPr lang="en-US" sz="1600" i="0" dirty="0" err="1">
                <a:effectLst/>
              </a:rPr>
              <a:t>acc</a:t>
            </a:r>
            <a:r>
              <a:rPr lang="en-US" sz="1600" b="1" i="0" dirty="0">
                <a:effectLst/>
              </a:rPr>
              <a:t> : 84</a:t>
            </a:r>
            <a:r>
              <a:rPr lang="en-US" sz="1600" b="1" i="0" dirty="0">
                <a:effectLst/>
                <a:sym typeface="Wingdings" panose="05000000000000000000" pitchFamily="2" charset="2"/>
              </a:rPr>
              <a:t></a:t>
            </a:r>
            <a:r>
              <a:rPr lang="en-US" sz="1600" b="1" i="0" dirty="0">
                <a:effectLst/>
              </a:rPr>
              <a:t>85 </a:t>
            </a:r>
            <a:r>
              <a:rPr lang="en-US" sz="1600" b="1" i="0" dirty="0">
                <a:effectLst/>
                <a:sym typeface="Wingdings" panose="05000000000000000000" pitchFamily="2" charset="2"/>
              </a:rPr>
              <a:t></a:t>
            </a:r>
            <a:r>
              <a:rPr lang="en-US" sz="1600" b="1" i="0" dirty="0">
                <a:effectLst/>
              </a:rPr>
              <a:t>97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0" i="0" dirty="0" err="1">
                <a:effectLst/>
              </a:rPr>
              <a:t>val_acc</a:t>
            </a:r>
            <a:r>
              <a:rPr lang="en-US" sz="1600" b="0" i="0" dirty="0">
                <a:effectLst/>
              </a:rPr>
              <a:t>      : </a:t>
            </a:r>
            <a:r>
              <a:rPr lang="en-US" sz="1600" b="1" i="0" dirty="0">
                <a:effectLst/>
              </a:rPr>
              <a:t>84-</a:t>
            </a:r>
            <a:r>
              <a:rPr lang="en-US" sz="1600" b="1" i="0" dirty="0">
                <a:effectLst/>
                <a:sym typeface="Wingdings" panose="05000000000000000000" pitchFamily="2" charset="2"/>
              </a:rPr>
              <a:t>84</a:t>
            </a:r>
            <a:r>
              <a:rPr lang="en-US" sz="1600" b="1" i="0" dirty="0">
                <a:effectLst/>
              </a:rPr>
              <a:t> 91</a:t>
            </a:r>
            <a:r>
              <a:rPr lang="en-US" sz="1600" b="0" i="0" dirty="0">
                <a:effectLst/>
              </a:rPr>
              <a:t> 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0" i="0" dirty="0" err="1">
                <a:effectLst/>
              </a:rPr>
              <a:t>test_acc</a:t>
            </a:r>
            <a:r>
              <a:rPr lang="en-US" sz="1600" b="0" i="0" dirty="0">
                <a:effectLst/>
              </a:rPr>
              <a:t>    :</a:t>
            </a:r>
            <a:r>
              <a:rPr lang="en-US" sz="1600" b="1" i="1" dirty="0"/>
              <a:t> </a:t>
            </a:r>
            <a:r>
              <a:rPr lang="en-US" sz="1600" b="1" i="1" dirty="0">
                <a:effectLst/>
              </a:rPr>
              <a:t>79</a:t>
            </a:r>
            <a:r>
              <a:rPr lang="en-US" sz="1600" b="1" i="1" dirty="0">
                <a:effectLst/>
                <a:sym typeface="Wingdings" panose="05000000000000000000" pitchFamily="2" charset="2"/>
              </a:rPr>
              <a:t>80</a:t>
            </a:r>
            <a:r>
              <a:rPr lang="en-US" sz="1600" b="1" i="1" dirty="0">
                <a:effectLst/>
              </a:rPr>
              <a:t> 88 .</a:t>
            </a:r>
            <a:endParaRPr lang="en-US" sz="1600" b="0" i="0" dirty="0">
              <a:effectLst/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sz="1600" dirty="0"/>
          </a:p>
        </p:txBody>
      </p:sp>
      <p:grpSp>
        <p:nvGrpSpPr>
          <p:cNvPr id="35" name="Group 16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4F50F9C-DA39-63C6-BD27-631352922671}"/>
              </a:ext>
            </a:extLst>
          </p:cNvPr>
          <p:cNvSpPr txBox="1"/>
          <p:nvPr/>
        </p:nvSpPr>
        <p:spPr>
          <a:xfrm flipH="1">
            <a:off x="8156349" y="2176939"/>
            <a:ext cx="3393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</a:rPr>
              <a:t>- </a:t>
            </a:r>
            <a:r>
              <a:rPr lang="en-GB" sz="16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</a:rPr>
              <a:t>Train_accuracy</a:t>
            </a:r>
            <a:r>
              <a:rPr lang="en-GB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</a:rPr>
              <a:t>  : 0.9760 </a:t>
            </a:r>
          </a:p>
          <a:p>
            <a:pPr marL="285750" indent="-285750">
              <a:buFontTx/>
              <a:buChar char="-"/>
            </a:pPr>
            <a:r>
              <a:rPr lang="en-GB" sz="16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</a:rPr>
              <a:t>val_accuracy</a:t>
            </a:r>
            <a:r>
              <a:rPr lang="en-GB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</a:rPr>
              <a:t>   : 0.9100</a:t>
            </a:r>
          </a:p>
          <a:p>
            <a:r>
              <a:rPr lang="en-GB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</a:rPr>
              <a:t> - Test_ accuracy : 0.8800</a:t>
            </a:r>
            <a:endParaRPr lang="en-GB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540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57A997F-57D3-4F47-B77A-14DE76B50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304EBC-E1F0-4042-84B1-65AD44AB1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F5971A-100F-43B9-AF60-FD95A592D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34AA403-A228-4305-AE48-0FF5690E3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C81A8F5-59C9-487C-91CC-79BB6660B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82DF6B4-81CE-4086-A1B1-BE48BA8E2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F89592C-293C-4B0D-BEFA-961C99F88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DFD6BF-06C6-46CB-92F8-914A50D20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7366"/>
            <a:ext cx="12192000" cy="2610465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79C118-6E7D-0732-0892-769EDA603B22}"/>
              </a:ext>
            </a:extLst>
          </p:cNvPr>
          <p:cNvSpPr txBox="1"/>
          <p:nvPr/>
        </p:nvSpPr>
        <p:spPr>
          <a:xfrm>
            <a:off x="136153" y="5585033"/>
            <a:ext cx="9175043" cy="11467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MobileNet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4777FC-AAA1-7409-EB4D-9A9D85D2AC7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1399" r="8804" b="-3"/>
          <a:stretch/>
        </p:blipFill>
        <p:spPr>
          <a:xfrm>
            <a:off x="484633" y="484632"/>
            <a:ext cx="3534611" cy="34719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001712-A18E-BD8F-C427-0516FF08F3A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993" r="24390" b="2"/>
          <a:stretch/>
        </p:blipFill>
        <p:spPr>
          <a:xfrm>
            <a:off x="4333312" y="484632"/>
            <a:ext cx="3537658" cy="34719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C2E12B-4651-0A89-0DA8-0ED6A14786E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96" r="-2" b="-2"/>
          <a:stretch/>
        </p:blipFill>
        <p:spPr>
          <a:xfrm>
            <a:off x="8185038" y="484632"/>
            <a:ext cx="3519281" cy="347193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E0E2BE6F-9BFB-4B18-840B-40BF0BD5C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9685338" y="4460675"/>
            <a:chExt cx="1080904" cy="108090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C9F8B2B-2B2A-491E-AA25-75099E92F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9CA9C39-5272-4D07-A5D8-4F6DB11E2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4E54E96-E39F-5209-404D-8B99CB48C4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153" y="4380379"/>
            <a:ext cx="11708844" cy="78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6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EB0F-016C-E274-2487-7821A6030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83" y="309489"/>
            <a:ext cx="10944665" cy="1356473"/>
          </a:xfrm>
        </p:spPr>
        <p:txBody>
          <a:bodyPr/>
          <a:lstStyle/>
          <a:p>
            <a:r>
              <a:rPr lang="en-US" dirty="0" err="1"/>
              <a:t>MobilNet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2F2C04-CF26-EB12-ED2A-0BAD7B6E5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342" y="1730338"/>
            <a:ext cx="10506640" cy="4715682"/>
          </a:xfrm>
        </p:spPr>
      </p:pic>
    </p:spTree>
    <p:extLst>
      <p:ext uri="{BB962C8B-B14F-4D97-AF65-F5344CB8AC3E}">
        <p14:creationId xmlns:p14="http://schemas.microsoft.com/office/powerpoint/2010/main" val="36165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37420-EDFA-7E32-D0C7-17038BA42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conclusion</a:t>
            </a:r>
            <a:endParaRPr lang="en-GB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DBEA0-E46F-6C6A-B918-6F94B20EF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780" y="599768"/>
            <a:ext cx="6074467" cy="5572432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When increasing the epochs the accuracy increased.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Some pre-trained model give high bias with this data like Inception Model.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When trying to train the models in the same Augmented data the accuracy was bad .by </a:t>
            </a:r>
            <a:r>
              <a:rPr lang="en-US" dirty="0" err="1"/>
              <a:t>scearcing</a:t>
            </a:r>
            <a:r>
              <a:rPr lang="en-US" dirty="0"/>
              <a:t> find that each pre-trained model need to augment by its roles.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367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E9FBC8E-8666-4442-8D7D-B250510CD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84" y="2005"/>
            <a:ext cx="10908632" cy="6853991"/>
          </a:xfrm>
          <a:custGeom>
            <a:avLst/>
            <a:gdLst>
              <a:gd name="connsiteX0" fmla="*/ 9059740 w 10908632"/>
              <a:gd name="connsiteY0" fmla="*/ 0 h 6853991"/>
              <a:gd name="connsiteX1" fmla="*/ 9694921 w 10908632"/>
              <a:gd name="connsiteY1" fmla="*/ 0 h 6853991"/>
              <a:gd name="connsiteX2" fmla="*/ 9825053 w 10908632"/>
              <a:gd name="connsiteY2" fmla="*/ 165594 h 6853991"/>
              <a:gd name="connsiteX3" fmla="*/ 10908632 w 10908632"/>
              <a:gd name="connsiteY3" fmla="*/ 3429000 h 6853991"/>
              <a:gd name="connsiteX4" fmla="*/ 9825053 w 10908632"/>
              <a:gd name="connsiteY4" fmla="*/ 6692406 h 6853991"/>
              <a:gd name="connsiteX5" fmla="*/ 9698072 w 10908632"/>
              <a:gd name="connsiteY5" fmla="*/ 6853991 h 6853991"/>
              <a:gd name="connsiteX6" fmla="*/ 9063562 w 10908632"/>
              <a:gd name="connsiteY6" fmla="*/ 6853991 h 6853991"/>
              <a:gd name="connsiteX7" fmla="*/ 9138428 w 10908632"/>
              <a:gd name="connsiteY7" fmla="*/ 6775466 h 6853991"/>
              <a:gd name="connsiteX8" fmla="*/ 10431379 w 10908632"/>
              <a:gd name="connsiteY8" fmla="*/ 3429000 h 6853991"/>
              <a:gd name="connsiteX9" fmla="*/ 9138428 w 10908632"/>
              <a:gd name="connsiteY9" fmla="*/ 82534 h 6853991"/>
              <a:gd name="connsiteX10" fmla="*/ 2037821 w 10908632"/>
              <a:gd name="connsiteY10" fmla="*/ 0 h 6853991"/>
              <a:gd name="connsiteX11" fmla="*/ 8870811 w 10908632"/>
              <a:gd name="connsiteY11" fmla="*/ 0 h 6853991"/>
              <a:gd name="connsiteX12" fmla="*/ 8877212 w 10908632"/>
              <a:gd name="connsiteY12" fmla="*/ 6103 h 6853991"/>
              <a:gd name="connsiteX13" fmla="*/ 10295021 w 10908632"/>
              <a:gd name="connsiteY13" fmla="*/ 3429000 h 6853991"/>
              <a:gd name="connsiteX14" fmla="*/ 8877212 w 10908632"/>
              <a:gd name="connsiteY14" fmla="*/ 6851897 h 6853991"/>
              <a:gd name="connsiteX15" fmla="*/ 8875015 w 10908632"/>
              <a:gd name="connsiteY15" fmla="*/ 6853991 h 6853991"/>
              <a:gd name="connsiteX16" fmla="*/ 2033617 w 10908632"/>
              <a:gd name="connsiteY16" fmla="*/ 6853991 h 6853991"/>
              <a:gd name="connsiteX17" fmla="*/ 2031421 w 10908632"/>
              <a:gd name="connsiteY17" fmla="*/ 6851897 h 6853991"/>
              <a:gd name="connsiteX18" fmla="*/ 613611 w 10908632"/>
              <a:gd name="connsiteY18" fmla="*/ 3429000 h 6853991"/>
              <a:gd name="connsiteX19" fmla="*/ 2031420 w 10908632"/>
              <a:gd name="connsiteY19" fmla="*/ 6103 h 6853991"/>
              <a:gd name="connsiteX20" fmla="*/ 1213711 w 10908632"/>
              <a:gd name="connsiteY20" fmla="*/ 0 h 6853991"/>
              <a:gd name="connsiteX21" fmla="*/ 1848893 w 10908632"/>
              <a:gd name="connsiteY21" fmla="*/ 0 h 6853991"/>
              <a:gd name="connsiteX22" fmla="*/ 1770204 w 10908632"/>
              <a:gd name="connsiteY22" fmla="*/ 82534 h 6853991"/>
              <a:gd name="connsiteX23" fmla="*/ 477253 w 10908632"/>
              <a:gd name="connsiteY23" fmla="*/ 3429000 h 6853991"/>
              <a:gd name="connsiteX24" fmla="*/ 1770204 w 10908632"/>
              <a:gd name="connsiteY24" fmla="*/ 6775466 h 6853991"/>
              <a:gd name="connsiteX25" fmla="*/ 1845071 w 10908632"/>
              <a:gd name="connsiteY25" fmla="*/ 6853991 h 6853991"/>
              <a:gd name="connsiteX26" fmla="*/ 1210561 w 10908632"/>
              <a:gd name="connsiteY26" fmla="*/ 6853991 h 6853991"/>
              <a:gd name="connsiteX27" fmla="*/ 1083579 w 10908632"/>
              <a:gd name="connsiteY27" fmla="*/ 6692406 h 6853991"/>
              <a:gd name="connsiteX28" fmla="*/ 0 w 10908632"/>
              <a:gd name="connsiteY28" fmla="*/ 3429000 h 6853991"/>
              <a:gd name="connsiteX29" fmla="*/ 1083579 w 10908632"/>
              <a:gd name="connsiteY29" fmla="*/ 165594 h 685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908632" h="6853991">
                <a:moveTo>
                  <a:pt x="9059740" y="0"/>
                </a:moveTo>
                <a:lnTo>
                  <a:pt x="9694921" y="0"/>
                </a:lnTo>
                <a:lnTo>
                  <a:pt x="9825053" y="165594"/>
                </a:lnTo>
                <a:cubicBezTo>
                  <a:pt x="10505610" y="1075607"/>
                  <a:pt x="10908632" y="2205238"/>
                  <a:pt x="10908632" y="3429000"/>
                </a:cubicBezTo>
                <a:cubicBezTo>
                  <a:pt x="10908632" y="4652762"/>
                  <a:pt x="10505610" y="5782393"/>
                  <a:pt x="9825053" y="6692406"/>
                </a:cubicBezTo>
                <a:lnTo>
                  <a:pt x="9698072" y="6853991"/>
                </a:lnTo>
                <a:lnTo>
                  <a:pt x="9063562" y="6853991"/>
                </a:lnTo>
                <a:lnTo>
                  <a:pt x="9138428" y="6775466"/>
                </a:lnTo>
                <a:cubicBezTo>
                  <a:pt x="9941761" y="5891604"/>
                  <a:pt x="10431379" y="4717480"/>
                  <a:pt x="10431379" y="3429000"/>
                </a:cubicBezTo>
                <a:cubicBezTo>
                  <a:pt x="10431379" y="2140521"/>
                  <a:pt x="9941761" y="966397"/>
                  <a:pt x="9138428" y="82534"/>
                </a:cubicBezTo>
                <a:close/>
                <a:moveTo>
                  <a:pt x="2037821" y="0"/>
                </a:moveTo>
                <a:lnTo>
                  <a:pt x="8870811" y="0"/>
                </a:lnTo>
                <a:lnTo>
                  <a:pt x="8877212" y="6103"/>
                </a:lnTo>
                <a:cubicBezTo>
                  <a:pt x="9753207" y="882099"/>
                  <a:pt x="10295021" y="2092275"/>
                  <a:pt x="10295021" y="3429000"/>
                </a:cubicBezTo>
                <a:cubicBezTo>
                  <a:pt x="10295021" y="4765725"/>
                  <a:pt x="9753207" y="5975902"/>
                  <a:pt x="8877212" y="6851897"/>
                </a:cubicBezTo>
                <a:lnTo>
                  <a:pt x="8875015" y="6853991"/>
                </a:lnTo>
                <a:lnTo>
                  <a:pt x="2033617" y="6853991"/>
                </a:lnTo>
                <a:lnTo>
                  <a:pt x="2031421" y="6851897"/>
                </a:lnTo>
                <a:cubicBezTo>
                  <a:pt x="1155426" y="5975902"/>
                  <a:pt x="613611" y="4765725"/>
                  <a:pt x="613611" y="3429000"/>
                </a:cubicBezTo>
                <a:cubicBezTo>
                  <a:pt x="613611" y="2092275"/>
                  <a:pt x="1155425" y="882099"/>
                  <a:pt x="2031420" y="6103"/>
                </a:cubicBezTo>
                <a:close/>
                <a:moveTo>
                  <a:pt x="1213711" y="0"/>
                </a:moveTo>
                <a:lnTo>
                  <a:pt x="1848893" y="0"/>
                </a:lnTo>
                <a:lnTo>
                  <a:pt x="1770204" y="82534"/>
                </a:lnTo>
                <a:cubicBezTo>
                  <a:pt x="966871" y="966397"/>
                  <a:pt x="477253" y="2140521"/>
                  <a:pt x="477253" y="3429000"/>
                </a:cubicBezTo>
                <a:cubicBezTo>
                  <a:pt x="477253" y="4717480"/>
                  <a:pt x="966872" y="5891604"/>
                  <a:pt x="1770204" y="6775466"/>
                </a:cubicBezTo>
                <a:lnTo>
                  <a:pt x="1845071" y="6853991"/>
                </a:lnTo>
                <a:lnTo>
                  <a:pt x="1210561" y="6853991"/>
                </a:lnTo>
                <a:lnTo>
                  <a:pt x="1083579" y="6692406"/>
                </a:lnTo>
                <a:cubicBezTo>
                  <a:pt x="403022" y="5782393"/>
                  <a:pt x="0" y="4652762"/>
                  <a:pt x="0" y="3429000"/>
                </a:cubicBezTo>
                <a:cubicBezTo>
                  <a:pt x="0" y="2205238"/>
                  <a:pt x="403022" y="1075607"/>
                  <a:pt x="1083579" y="16559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F0242E-C5F0-FF7B-3B3D-00ED77E45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561" y="1087811"/>
            <a:ext cx="6674879" cy="468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62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164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Courier New</vt:lpstr>
      <vt:lpstr>Inter</vt:lpstr>
      <vt:lpstr>Rockwell</vt:lpstr>
      <vt:lpstr>Rockwell Condensed</vt:lpstr>
      <vt:lpstr>Rockwell Extra Bold</vt:lpstr>
      <vt:lpstr>Wingdings</vt:lpstr>
      <vt:lpstr>Wood Type</vt:lpstr>
      <vt:lpstr>MltiClassification</vt:lpstr>
      <vt:lpstr>GrapeLeaves</vt:lpstr>
      <vt:lpstr>Introduction </vt:lpstr>
      <vt:lpstr>PowerPoint Presentation</vt:lpstr>
      <vt:lpstr>transfer learning</vt:lpstr>
      <vt:lpstr>PowerPoint Presentation</vt:lpstr>
      <vt:lpstr>PowerPoint Presentation</vt:lpstr>
      <vt:lpstr>MobilNet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MltiClassification</dc:title>
  <dc:creator>Mohamed Eslam</dc:creator>
  <cp:lastModifiedBy>Mostafa Ali Mohamed ElSharqawy</cp:lastModifiedBy>
  <cp:revision>6</cp:revision>
  <dcterms:created xsi:type="dcterms:W3CDTF">2022-09-13T16:47:14Z</dcterms:created>
  <dcterms:modified xsi:type="dcterms:W3CDTF">2025-09-24T19:00:34Z</dcterms:modified>
</cp:coreProperties>
</file>